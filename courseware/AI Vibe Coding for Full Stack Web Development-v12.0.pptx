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3" r:id="rId2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4" Type="http://schemas.openxmlformats.org/officeDocument/2006/relationships/slide" Target="slides/slide2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review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Initial load</c:v>
                </c:pt>
                <c:pt idx="1">
                  <c:v>API p95</c:v>
                </c:pt>
                <c:pt idx="2">
                  <c:v>Form response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460</c:v>
                </c:pt>
                <c:pt idx="2">
                  <c:v>290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review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Initial load</c:v>
                </c:pt>
                <c:pt idx="1">
                  <c:v>API p95</c:v>
                </c:pt>
                <c:pt idx="2">
                  <c:v>Form response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230</c:v>
                </c:pt>
                <c:pt idx="1">
                  <c:v>240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stack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40080"/>
            <a:ext cx="6583680" cy="37052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500" b="1">
                <a:solidFill>
                  <a:srgbClr val="1763A6"/>
                </a:solidFill>
                <a:latin typeface="Arial"/>
              </a:defRPr>
            </a:pPr>
            <a:r>
              <a:t>TERTIARY INFOTECH ACADEMY  ·  NON-WSQ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3600" b="1">
                <a:solidFill>
                  <a:srgbClr val="192638"/>
                </a:solidFill>
                <a:latin typeface="Arial"/>
              </a:defRPr>
            </a:pPr>
            <a:r>
              <a:t>AI Vibe Coding for Full Stack Web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41648"/>
            <a:ext cx="530352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900" b="1">
                <a:solidFill>
                  <a:srgbClr val="009187"/>
                </a:solidFill>
                <a:latin typeface="Arial"/>
              </a:defRPr>
            </a:pPr>
            <a:r>
              <a:t>C1800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30352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500" b="0">
                <a:solidFill>
                  <a:srgbClr val="192638"/>
                </a:solidFill>
                <a:latin typeface="Arial"/>
              </a:defRPr>
            </a:pPr>
            <a:r>
              <a:t>v12.0  ·  14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64008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000" b="0">
                <a:solidFill>
                  <a:srgbClr val="1763A6"/>
                </a:solidFill>
                <a:latin typeface="Arial"/>
              </a:defRPr>
            </a:pPr>
            <a:r>
              <a:t>UEN 201200696W  ·  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Course identity and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2 days · 15 instructional hours · 9:30am – 5:30pm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Five topics, each with two hands-on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Ten standalone React and Express 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tests and UI/API evidence per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Trainer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Trainer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Name · role · qualifications · experience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Dr Alfred 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Course developer and Tertiary Infotech trainer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Use signed-in LMS course 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enquiry@tertiaryinfotech.com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The build-and-review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1 · Specify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Write a contract with inputs, output and acceptance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2 ·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Ask AI for a bounded unit with explicit constraints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3 ·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Read diff, run tests and review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4 ·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Verify live behavior, data, security and rollback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Designing Full Stack Web Applications with AI Vibe Coding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Designing Full Stack Web Applications with AI Vibe Coding</a:t>
            </a:r>
          </a:p>
        </p:txBody>
      </p:sp>
      <p:pic>
        <p:nvPicPr>
          <p:cNvPr id="13" name="Picture 12" descr="full-stack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029200" cy="2830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394960"/>
            <a:ext cx="47548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1">
                <a:solidFill>
                  <a:srgbClr val="009187"/>
                </a:solidFill>
                <a:latin typeface="Arial"/>
              </a:defRPr>
            </a:pPr>
            <a:r>
              <a:t>Labs 1–2  ·  practical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Requirement to acceptance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Requirement to acceptance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Given a user can create a task; When POST /api/tasks succeeds; Then the list shows the returned 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Requirement to acceptance contract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Given a user can create a task; When POST /api/tasks succeeds; Then the list shows the returned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Requirement to acceptance contract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POST returns 201 with id and 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Requirement to acceptance contract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Reject a prompt that omits the observable acceptance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Capability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Capability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UI:React -&gt; API:Express -&gt; Store:SQLite -&gt; log:requestId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Capability map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UI:React -&gt; API:Express -&gt; Store:SQLite -&gt; log:requestId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Capability map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task appears after reload, not only in component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Capability map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mock-only UI is not a full-stack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Data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type Task = { id:string; title:string; done:boolean; ownerId:string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boundary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type Task = { id:string; title:string; done:boolean; ownerId:string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boundary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JSON response includes only public fields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boundary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Never send passwordHash in API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resource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API resource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GET /api/tasks; POST /api/tasks; PATCH /api/tasks/:id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resource design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GET /api/tasks; POST /api/tasks; PATCH /api/tasks/:id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resource design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GET is safe; POST creates; PATCH changes one resource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resource design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Avoid action URLs such as /doTaskChange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AI prompt as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AI prompt as specification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Generate an Express route for POST /api/tasks with validation, status codes and one test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AI prompt as specification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Generate an Express route for POST /api/tasks with validation, status codes and one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AI prompt as specification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Review diff against contract before accepting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AI prompt as specification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Regenerate only the failing unit, not the whole project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Human architectural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Human architectural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Choose modular monolith for one classroom app and one deploy target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Human architectural decision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Choose modular monolith for one classroom app and one deploy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Human architectural decision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UI and API have explicit interface and ownership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Human architectural decision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Microservices add latency and operations burden here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Risk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Risk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R1 duplicate writes; R2 exposed token; R3 stale cache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Risk register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R1 duplicate writes; R2 exposed token; R3 stale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Risk register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Each risk has mitigation and an observable 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Risk register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polished demo without risk checks is incomplete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Repository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Repository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src/ UI; server/ routes; data/ fixtures; tests/ assertions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Repository boundary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src/ UI; server/ routes; data/ fixtures; tests/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Repository boundary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npm scripts start UI and API predictably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Repository boundary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commit .env or node_modules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Traceability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Traceability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LO1 -&gt; Lab 1 -&gt; interface wireframe -&gt; PP task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Traceability matrix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LO1 -&gt; Lab 1 -&gt; interface wireframe -&gt; PP task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Traceability matrix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Every assessed ability names a practiced lab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Traceability matrix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Orphan assessment task fails release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DESIGN / DECISION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Baseline performance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Baseline performance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p95 API &lt; 300 ms locally; initial JS &lt; 250 kB gzip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CODE / CONFIG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Baseline performance budget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p95 API &lt; 300 ms locally; initial JS &lt; 250 kB gzip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TEST / EVIDENCE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Baseline performance budget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Record measured local p95 and bundle output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1  ·  FAILURE / TRADE-OFF  ·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Baseline performance budget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Budget is a design check, not a production SLA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LABS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Topic 1 practice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0704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287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Lab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27785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run the test, capture UI and API evidence, then explain one rejected AI suggestion.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Building Dynamic and Responsive User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Building Dynamic and Responsive User Interfaces</a:t>
            </a:r>
          </a:p>
        </p:txBody>
      </p:sp>
      <p:pic>
        <p:nvPicPr>
          <p:cNvPr id="13" name="Picture 12" descr="full-stack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029200" cy="2830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394960"/>
            <a:ext cx="47548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1">
                <a:solidFill>
                  <a:srgbClr val="009187"/>
                </a:solidFill>
                <a:latin typeface="Arial"/>
              </a:defRPr>
            </a:pPr>
            <a:r>
              <a:t>Labs 3–4  ·  practical evidence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React root and rendering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React root and rendering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createRoot(document.getElementById("root")).render(&lt;App /&gt;)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React root and rendering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createRoot(document.getElementById("root")).render(&lt;App /&gt;)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React root and rendering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App mounts once and no console error appears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React root and rendering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Missing #root produces a blank page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Semantic component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Semantic component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&lt;main&gt;&lt;h1&gt;Tasks&lt;/h1&gt;&lt;TaskList /&gt;&lt;/main&gt;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Semantic component tree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&lt;main&gt;&lt;h1&gt;Tasks&lt;/h1&gt;&lt;TaskList /&gt;&lt;/main&gt;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Semantic component tree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Heading and list appear in accessibility tree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Semantic component tree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Div-only controls hurt keyboard and screen reader use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Responsive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Responsive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display:grid; grid-template-columns:repeat(auto-fit,minmax(16rem,1fr))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Responsive grid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display:grid; grid-template-columns:repeat(auto-fit,minmax(16rem,1fr))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Responsive grid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Cards wrap at 375 px without horizontal scroll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Responsive grid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Fixed 400 px cards overflow mobile viewports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Accessible button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Accessible button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&lt;button disabled={saving} aria-busy={saving}&gt;Save&lt;/button&gt;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Accessible button state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&lt;button disabled={saving} aria-busy={saving}&gt;Save&lt;/button&gt;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Accessible button state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Button blocks duplicate submit while saving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Accessible button state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CSS-only disabled look still allows clicks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List key stability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List key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tasks.map(task =&gt; &lt;TaskCard key={task.id} task={task} /&gt;)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List key stability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tasks.map(task =&gt; &lt;TaskCard key={task.id} task={task} /&gt;)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List key stability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Reorder preserves each card identity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List key stability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Array index keys can attach state to wrong row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Derived view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Derived view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const visible = tasks.filter(t =&gt; !hideDone || !t.done)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Derived view state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const visible = tasks.filter(t =&gt; !hideDone || !t.done)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Derived view state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Toggle filter changes view without mutating source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Derived view state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Copying derived data into state creates drift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CSS token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CSS token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:root{--space-2:.5rem;--brand:#1763a6}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CSS token system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:root{--space-2:.5rem;--brand:#1763a6}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CSS token system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Spacing and focus ring remain consistent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CSS token system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Hardcoded colors spread design inconsistency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Loading and empty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Loading and empty states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if (loading) return &lt;p role="status"&gt;Loading…&lt;/p&gt;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Loading and empty states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if (loading) return &lt;p role="status"&gt;Loading…&lt;/p&gt;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Loading and empty states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Empty data shows a useful empty state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Loading and empty states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Spinner forever hides API failure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Error boundary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Error boundary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&lt;ErrorBoundary fallback={&lt;Recovery /&gt;}&gt;...&lt;/ErrorBoundary&gt;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Error boundary decision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&lt;ErrorBoundary fallback={&lt;Recovery /&gt;}&gt;...&lt;/ErrorBoundary&gt;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Error boundary decision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Render exception shows recovery UI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Error boundary decision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Boundary does not catch asynchronous fetch errors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DESIGN / DECISION  ·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Visual regression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Visual regression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Capture desktop 1280 px and mobile 375 px screenshots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CODE / CONFIG  ·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Visual regression evidence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Capture desktop 1280 px and mobile 375 px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TEST / EVIDENCE  ·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Visual regression evidence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No clipping or unreadable controls in both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2  ·  FAILURE / TRADE-OFF  ·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Visual regression evidence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trust a desktop-only screenshot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LABS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Topic 2 practice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0704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287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Lab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27785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run the test, capture UI and API evidence, then explain one rejected AI suggestion.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Creating Interactive Controls and Application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Creating Interactive Controls and Application Features</a:t>
            </a:r>
          </a:p>
        </p:txBody>
      </p:sp>
      <p:pic>
        <p:nvPicPr>
          <p:cNvPr id="13" name="Picture 12" descr="full-stack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029200" cy="2830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394960"/>
            <a:ext cx="47548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1">
                <a:solidFill>
                  <a:srgbClr val="009187"/>
                </a:solidFill>
                <a:latin typeface="Arial"/>
              </a:defRPr>
            </a:pPr>
            <a:r>
              <a:t>Labs 5–6  ·  practical evidence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Controlled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Controlled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&lt;input value={title} onChange={e=&gt;setTitle(e.target.value)} /&gt;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Controlled input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&lt;input value={title} onChange={e=&gt;setTitle(e.target.value)} 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Controlled input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Typed text remains source-of-truth state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Controlled input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Uncontrolled and controlled modes must not flip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Form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if (!title.trim()) return setError("Title is required")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validation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if (!title.trim()) return setError("Title is required")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validation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Empty title blocks POST and announces error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validation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Client validation does not replace server validation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Submit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Submit lifecycle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setSaving(true); try{await createTask(payload)}finally{setSaving(false)}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Submit lifecycle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setSaving(true); try{await createTask(payload)}finally{setSaving(false)}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Submit lifecycle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One click produces one request and returns to idle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Submit lifecycle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Missing finally leaves button disabled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Optimistic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Optimistic update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setTasks(old=&gt;[draft,...old]); rollback on request failure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Optimistic update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setTasks(old=&gt;[draft,...old]); rollback on request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Optimistic update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Failed request removes optimistic draft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Optimistic update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Temporary id must be replaced with server id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Event propagation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Event propagation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&lt;button onClick={e=&gt;{e.stopPropagation();remove(id)}}&gt;Delete&lt;/button&gt;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Event propagation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&lt;button onClick={e=&gt;{e.stopPropagation();remove(id)}}&gt;Delete&lt;/button&gt;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Event propagation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Delete does not also open card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Event propagation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Unnecessary stopPropagation can break parent semantics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Debounced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Debounced 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useEffect(()=&gt;{const t=setTimeout(()=&gt;setQuery(value),250);return()=&gt;clearTimeout(t)},[value])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Debounced search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useEffect(()=&gt;{const t=setTimeout(()=&gt;setQuery(value),250);return()=&gt;clearTimeout(t)},[value])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Debounced search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Rapid typing makes fewer queries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Debounced search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Clear timer on value change and unmount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URL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URL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const params = new URLSearchParams(location.search)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URL state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const params = new URLSearchParams(location.search)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URL state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Refresh preserves filter query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URL state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State only in memory loses shareable context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Keyboard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Keyboard interaction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&lt;form onSubmit={handleSubmit}&gt;…&lt;/form&gt;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Keyboard interaction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&lt;form onSubmit={handleSubmit}&gt;…&lt;/form&gt;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Keyboard interaction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Enter submits once; Escape behavior is defined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Keyboard interaction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Clickable div lacks native keyboard behavior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Computed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Computed 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const openCount=tasks.filter(t=&gt;!t.done).length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Computed counts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const openCount=tasks.filter(t=&gt;!t.done).length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Computed counts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Badge matches list after edit and deletion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Computed counts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independently increment an unsynced counter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DESIGN / DECISION  ·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Async race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Async race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const ac=new AbortController(); fetch(url,{signal:ac.signal})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CODE / CONFIG  ·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Async race control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const ac=new AbortController(); fetch(url,{signal:ac.signal})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TEST / EVIDENCE  ·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Async race control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Old query cannot overwrite latest response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3  ·  FAILURE / TRADE-OFF  ·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Async race control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Handle AbortError separately from server failures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LABS 5–6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Topic 3 practice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0704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287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Lab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27785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run the test, capture UI and API evidence, then explain one rejected AI suggestion.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Developing Reusable Components and Full Stack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Developing Reusable Components and Full Stack Architecture</a:t>
            </a:r>
          </a:p>
        </p:txBody>
      </p:sp>
      <p:pic>
        <p:nvPicPr>
          <p:cNvPr id="13" name="Picture 12" descr="full-stack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029200" cy="2830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394960"/>
            <a:ext cx="47548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1">
                <a:solidFill>
                  <a:srgbClr val="009187"/>
                </a:solidFill>
                <a:latin typeface="Arial"/>
              </a:defRPr>
            </a:pPr>
            <a:r>
              <a:t>Labs 7–8  ·  practical evidence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Prop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Prop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function TaskCard({task,onToggle}){return &lt;button onClick={()=&gt;onToggle(task.id)}&gt;…&lt;/button&gt;}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Prop contract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function TaskCard({task,onToggle}){return &lt;button onClick={()=&gt;onToggle(task.id)}&gt;…&lt;/button&gt;}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Prop contract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Parent owns collection; child emits intent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Prop contract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Child mutation of props obscures state ownership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Composition over duplication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Composition over 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&lt;Panel title="Open tasks"&gt;&lt;TaskList tasks={open}/&gt;&lt;/Panel&gt;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Composition over duplication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&lt;Panel title="Open tasks"&gt;&lt;TaskList tasks={open}/&gt;&lt;/Panel&gt;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Composition over duplication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Same Panel serves multiple views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Composition over duplication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Copy-paste markup diverges on fixes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Custom hook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Custom hook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function useTasks(){const [tasks,setTasks]=useState([]);return {tasks,setTasks}}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Custom hook boundary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function useTasks(){const [tasks,setTasks]=useState([]);return {tasks,setTasks}}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Custom hook boundary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Hook isolates data lifecycle, not all application logic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Custom hook boundary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giant hook is another monolith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Express route layering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Express route layering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router.post("/tasks",validate,controller.create)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Express route layering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router.post("/tasks",validate,controller.create)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Express route layering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Validation runs before persistence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Express route layering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put SQL and auth checks in JSX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HTTP status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HTTP status semantics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res.status(201).json(task); res.status(400).json({error:"INVALID_TITLE"})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HTTP status semantics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res.status(201).json(task); res.status(400).json({error:"INVALID_TITLE"})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HTTP status semantics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Client distinguishes success, validation and server error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HTTP status semantics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Always-200 hides failures from monitoring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SQLite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SQLite data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CREATE TABLE tasks(id TEXT PRIMARY KEY,owner_id TEXT NOT NULL,title TEXT NOT NULL,done INTEGER NOT NULL DEFAULT 0)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SQLite data model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CREATE TABLE tasks(id TEXT PRIMARY KEY,owner_id TEXT NOT NULL,title TEXT NOT NULL,done INTEGER NOT NULL DEFAULT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SQLite data model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Restart retains created tasks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SQLite data model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JSON fixture is seed data, not persistence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Parameterised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Parameterised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db.prepare("SELECT * FROM tasks WHERE owner_id = ?").all(userId)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Parameterised query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db.prepare("SELECT * FROM tasks WHERE owner_id = ?").all(userId)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Parameterised query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Injection string is treated as data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Parameterised query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String concatenation in SQL is unsafe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contract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API contract 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expect(response.status).toBe(201); expect(response.body.id).toBeTruthy()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contract test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expect(response.status).toBe(201); expect(response.body.id).toBeTruthy()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contract test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Test fails if response shape drifts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API contract test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Screenshot cannot prove API contract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Session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Session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Cookie: HttpOnly; Secure; SameSite=Lax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Session boundary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Cookie: HttpOnly; Secure; SameSite=Lax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Session boundary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Browser sends session only in intended flow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Session boundary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Never store long-lived auth secret in localStorage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DESIGN / DECISION  ·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 control at 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Access control at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SELECT * FROM tasks WHERE id=? AND owner_id=?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CODE / CONFIG  ·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 control at query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SELECT * FROM tasks WHERE id=? AND owner_id=?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TEST / EVIDENCE  ·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 control at query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User B receives 404 for User A task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4  ·  FAILURE / TRADE-OFF  · 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Access control at query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 hidden UI button is not authorization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LABS 7–8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Topic 4 practice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0704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287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Lab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27785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run the test, capture UI and API evidence, then explain one rejected AI suggestion.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· LO5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Building Forms, Managing Data and Producing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Building Forms, Managing Data and Producing Documentation</a:t>
            </a:r>
          </a:p>
        </p:txBody>
      </p:sp>
      <p:pic>
        <p:nvPicPr>
          <p:cNvPr id="13" name="Picture 12" descr="full-stack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029200" cy="2830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394960"/>
            <a:ext cx="4754880" cy="4114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1">
                <a:solidFill>
                  <a:srgbClr val="009187"/>
                </a:solidFill>
                <a:latin typeface="Arial"/>
              </a:defRPr>
            </a:pPr>
            <a:r>
              <a:t>Labs 9–10  ·  practical evidence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Form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const schema={title:{required:true,max:120},dueDate:{optional:true}}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schema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const schema={title:{required:true,max:120},dueDate:{optional:true}}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schema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UI and API enforce matching constraints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Form schema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Server remains authoritative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Response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Response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if(!Array.isArray(data.tasks)) throw new Error("Bad API shape")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Response validation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if(!Array.isArray(data.tasks)) throw new Error("Bad API shape")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Response validation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Malformed response reaches error state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Response validation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AI-generated fetch code often assumes shape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Pagination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Pagination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GET /api/tasks?cursor=abc&amp;limit=20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Pagination contract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GET /api/tasks?cursor=abc&amp;limit=20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Pagination contract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Next cursor returns non-overlapping rows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Pagination contract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Offset pagination can skip moving records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Data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ALTER TABLE tasks ADD COLUMN due_date TEXT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migration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ALTER TABLE tasks ADD COLUMN due_date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migration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Old rows remain readable after migration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Data migration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Never reset production data to seed fixtures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Documentation as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Documentation as 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README: prerequisites, scripts, env.example, routes, tests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Documentation as interface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README: prerequisites, scripts, env.example, routes,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Documentation as interface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New learner can start from a fresh clone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Documentation as interface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Local-only setup knowledge is not portable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Threat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Threat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Actor -&gt; API -&gt; database; trust boundary at request input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Threat model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Actor -&gt; API -&gt; database; trust boundary at request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Threat model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Untrusted input is validated before storage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Threat model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Prompt-generated code is untrusted until reviewed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Test pyramid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Test pyramid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Unit: validator; integration: route/db; E2E: create/edit task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Test pyramid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Unit: validator; integration: route/db; E2E: create/edit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Test pyramid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Each layer catches a distinct failure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Test pyramid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E2E-only testing is slow and opaque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Observability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Observability correlation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console.info({requestId,route,status,durationMs})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Observability correlation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console.info({requestId,route,status,durationMs})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Observability correlation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One failed UI call links to one server log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Observability correlation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log secrets or full personal records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Deployment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Deployment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DATABASE_URL and SESSION_SECRET from environment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Deployment configuration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DATABASE_URL and SESSION_SECRET from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Deployment configuration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Startup fails clearly when required config absent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Deployment configuration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Do not bake local .env into image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DESIGN / DECISION  · 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Release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Input / system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Release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5212080" cy="34747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Output /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882896" cy="28163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Build -&gt; tests -&gt; deploy -&gt; smoke POST/GET -&gt; rollback plan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CODE / CONFIG  · 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Release verification —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429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48840"/>
            <a:ext cx="10058400" cy="2880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onsolas"/>
              </a:defRPr>
            </a:pPr>
            <a:r>
              <a:t>Build -&gt; tests -&gt; deploy -&gt; smoke POST/GET -&gt; rollback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51560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400" b="0">
                <a:solidFill>
                  <a:srgbClr val="1763A6"/>
                </a:solidFill>
                <a:latin typeface="Arial"/>
              </a:defRPr>
            </a:pPr>
            <a:r>
              <a:t>Human review: check ownership, type and failure path before accepting AI output.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TEST / EVIDENCE  · 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Release verification —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Observable pass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Live route matches deployed commit and retains data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TOPIC 5  ·  FAILURE / TRADE-OFF  · 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Release verification — review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AE3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AE3E41"/>
                </a:solidFill>
                <a:latin typeface="Arial"/>
              </a:defRPr>
            </a:pPr>
            <a:r>
              <a:t>Failure or human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46073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Successful push alone does not prove deployment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LABS 9–10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Topic 5 practice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607040" cy="338328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73152" cy="338328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287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Lab acceptance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10277856" cy="272491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Commit source, run the test, capture UI and API evidence, then explain one rejected AI suggestion.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MEASUREMENT · ILLUSTRATIVE CLASSROOM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Editable performance review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1828800"/>
          <a:ext cx="106070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100" b="0">
                <a:solidFill>
                  <a:srgbClr val="1763A6"/>
                </a:solidFill>
                <a:latin typeface="Arial"/>
              </a:defRPr>
            </a:pPr>
            <a:r>
              <a:t>Illustrative local milliseconds; learners replace values with their measured results.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109728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200" b="1">
                <a:solidFill>
                  <a:srgbClr val="009187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2900" b="1">
                <a:solidFill>
                  <a:srgbClr val="192638"/>
                </a:solidFill>
                <a:latin typeface="Arial"/>
              </a:defRPr>
            </a:pPr>
            <a:r>
              <a:t>Course feedback and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08760"/>
            <a:ext cx="11064240" cy="2286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14400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AI Vibe Coding for Full Stack Web Development  ·  C1800  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800" b="0">
                <a:solidFill>
                  <a:srgbClr val="1763A6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Course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Complete the course feedback 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Raise them with your trainer before you leave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73152" cy="1645920"/>
          </a:xfrm>
          <a:prstGeom prst="rect">
            <a:avLst/>
          </a:prstGeom>
          <a:solidFill>
            <a:srgbClr val="176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1763A6"/>
                </a:solidFill>
                <a:latin typeface="Arial"/>
              </a:defRPr>
            </a:pPr>
            <a:r>
              <a:t>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Slides, guide and labs on the LMS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257800" cy="1645920"/>
          </a:xfrm>
          <a:prstGeom prst="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94760"/>
            <a:ext cx="73152" cy="1645920"/>
          </a:xfrm>
          <a:prstGeom prst="rect">
            <a:avLst/>
          </a:prstGeom>
          <a:solidFill>
            <a:srgbClr val="00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04488"/>
            <a:ext cx="493776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300" b="1">
                <a:solidFill>
                  <a:srgbClr val="009187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61688"/>
            <a:ext cx="4928616" cy="98755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defRPr sz="1800" b="0">
                <a:solidFill>
                  <a:srgbClr val="192638"/>
                </a:solidFill>
                <a:latin typeface="Arial"/>
              </a:defRPr>
            </a:pPr>
            <a:r>
              <a:t>enquiry@tertiaryinfotech.com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