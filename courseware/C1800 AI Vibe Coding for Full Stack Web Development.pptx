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4048"/>
            <a:ext cx="658368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4752" y="566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TERTIARY INFOTECH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AI Vibe Coding for Full Stack Web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54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Course Code: C1800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86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5B6372"/>
                </a:solidFill>
                <a:latin typeface="Arial"/>
              </a:rPr>
              <a:t>Agentic AI Loop Engineering · Build · Verify · 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2 days · 15 hours · Intermediate ·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LEARNING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adults learn in this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3401568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See a complete demonstration with trainer think-aloud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64208"/>
            <a:ext cx="3401568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Practise the same decision with scaffolding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664208"/>
            <a:ext cx="3401568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02752" y="1920240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Solve a changed boundary independently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3744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23744" y="3822191"/>
            <a:ext cx="3401568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06624" y="4078224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06624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1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Explain evidence to a peer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3822191"/>
            <a:ext cx="3401568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37376" y="4078224"/>
            <a:ext cx="420624" cy="42062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a transferable checklist or checkpoint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CORE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Agentic AI Engineering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define observable success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expose assumptions and file scope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authorise a small increment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Inspect + 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apply judgement and evidence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Correct +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diagnose, fix and preserve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COURSE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Course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3401568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Engineer durable goals, context and prompts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64208"/>
            <a:ext cx="3401568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Build an accessible typed full-stack vertical slice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664208"/>
            <a:ext cx="3401568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02752" y="1920240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Generate tests, production builds and CI/CD gates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3744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23744" y="3822191"/>
            <a:ext cx="3401568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06624" y="4078224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06624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1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Create non-WSQ skills, hooks and bounded subagents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3822191"/>
            <a:ext cx="3401568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37376" y="4078224"/>
            <a:ext cx="420624" cy="42062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Implement MCP tools and orchestrate a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COURSE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TaskFlow capstone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1901952" cy="242316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React + TypeScript user interface</a:t>
            </a:r>
          </a:p>
        </p:txBody>
      </p:sp>
      <p:sp>
        <p:nvSpPr>
          <p:cNvPr id="12" name="Chevron 11"/>
          <p:cNvSpPr/>
          <p:nvPr/>
        </p:nvSpPr>
        <p:spPr>
          <a:xfrm>
            <a:off x="2569464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2072" y="2057400"/>
            <a:ext cx="1901952" cy="242316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Express API with schema validation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4837176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9784" y="2057400"/>
            <a:ext cx="1901952" cy="242316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SQLite migrations and parameterised persistence</a:t>
            </a:r>
          </a:p>
        </p:txBody>
      </p:sp>
      <p:sp>
        <p:nvSpPr>
          <p:cNvPr id="20" name="Chevron 19"/>
          <p:cNvSpPr/>
          <p:nvPr/>
        </p:nvSpPr>
        <p:spPr>
          <a:xfrm>
            <a:off x="7104888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7496" y="2057400"/>
            <a:ext cx="1901952" cy="242316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Shared contracts and automated tests</a:t>
            </a:r>
          </a:p>
        </p:txBody>
      </p:sp>
      <p:sp>
        <p:nvSpPr>
          <p:cNvPr id="24" name="Chevron 23"/>
          <p:cNvSpPr/>
          <p:nvPr/>
        </p:nvSpPr>
        <p:spPr>
          <a:xfrm>
            <a:off x="9372600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65208" y="2057400"/>
            <a:ext cx="1901952" cy="242316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Docker, GitHub Actions and cloud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VIBE CODING PRINCIPLES FOR FULL STACK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Topic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>
                <a:solidFill>
                  <a:srgbClr val="DCE9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874519"/>
            <a:ext cx="8869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Vibe Coding Principles for Full Stack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7490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6 connected labs · concept → demonstration → practice → transfer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Why this topic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3401568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Vibe coding as an engineering workflow: connect knowledge to an engineering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64208"/>
            <a:ext cx="3401568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Agentic tools versus autocomplete: connect knowledge to an engineering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664208"/>
            <a:ext cx="3401568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02752" y="1920240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Goal and context engineering: connect knowledge to an engineering decision.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3744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23744" y="3822191"/>
            <a:ext cx="3401568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06624" y="4078224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06624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1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Full-stack architecture and vertical slices: connect knowledge to an engineering decision.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3822191"/>
            <a:ext cx="3401568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37376" y="4078224"/>
            <a:ext cx="420624" cy="42062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Long-session memory and checkpoints: connect knowledge to an engineering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Concept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1901952" cy="242316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Vibe coding as an engineering workflow</a:t>
            </a:r>
          </a:p>
        </p:txBody>
      </p:sp>
      <p:sp>
        <p:nvSpPr>
          <p:cNvPr id="12" name="Chevron 11"/>
          <p:cNvSpPr/>
          <p:nvPr/>
        </p:nvSpPr>
        <p:spPr>
          <a:xfrm>
            <a:off x="2569464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2072" y="2057400"/>
            <a:ext cx="1901952" cy="242316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Agentic tools versus autocomplete</a:t>
            </a:r>
          </a:p>
        </p:txBody>
      </p:sp>
      <p:sp>
        <p:nvSpPr>
          <p:cNvPr id="16" name="Chevron 15"/>
          <p:cNvSpPr/>
          <p:nvPr/>
        </p:nvSpPr>
        <p:spPr>
          <a:xfrm>
            <a:off x="4837176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9784" y="2057400"/>
            <a:ext cx="1901952" cy="242316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Goal and context engineering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7104888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7496" y="2057400"/>
            <a:ext cx="1901952" cy="242316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Full-stack architecture and vertical slices</a:t>
            </a:r>
          </a:p>
        </p:txBody>
      </p:sp>
      <p:sp>
        <p:nvSpPr>
          <p:cNvPr id="24" name="Chevron 23"/>
          <p:cNvSpPr/>
          <p:nvPr/>
        </p:nvSpPr>
        <p:spPr>
          <a:xfrm>
            <a:off x="9372600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65208" y="2057400"/>
            <a:ext cx="1901952" cy="242316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Long-session memory and checkpoints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Common failure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A polished solution to the wrong problem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Chat-only context that disappears next session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Broad generated diffs that cannot be reviewed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Happy-path tests that miss real boundaries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Automation without ownership or rollback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01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1.1 — Establish the Agentic Engineering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Create a visible seven-stage loop and use it to correct a deliberately vague request.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docs/agentic-loop.md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Write the loop, improve a weak prompt, capture assumptions, and define evidence before code.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 a visible seven-stage loop and use it to correct a deliberately vague request.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Write the loop, improve a weak prompt, capture assumptions, and define evidence before code.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“Create a visible seven-stage loop and use it to correct a deliberately vague request.” Identify the learner-visible success condition and write it under Goal in `prompts/lab-1.1.md`.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`docs/agentic-loop.md`.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Write the loop, improve a weak prompt, capture assumptions, and define evidence before code. Add explicit non-goals so the agent cannot silently expand scope.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`docs/agentic-loop.md`.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docs/agentic-loop.md`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`feat(lab-1.1): establish-the-agentic-engineering-loop`. Record one assumption corrected during the lab.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the loop, improve a weak prompt, capture assumptions, and define evidence before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01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1.2 — Set Up and Verify the Development Workbench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Install and verify Node.js, Git, an editor, browser tools and one coding agent.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docs/environment-check.md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Record versions, run a diagnostic project, and resolve one predictable setup failure.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Install and verify Node.js, Git, an editor, browser tools and one coding agent.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Record versions, run a diagnostic project, and resolve one predictable setup failure.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“Install and verify Node.js, Git, an editor, browser tools and one coding agent.” Identify the learner-visible success condition and write it under Goal in `prompts/lab-1.2.md`.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`docs/environment-check.md`.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Record versions, run a diagnostic project, and resolve one predictable setup failure. Add explicit non-goals so the agent cannot silently expand scope.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`docs/environment-check.md`.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docs/environment-check.md`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`feat(lab-1.2): set-up-and-verify-the-development-workbench`. Record one assumption corrected during the lab.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versions, run a diagnostic project, and resolve one predictable setup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01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1.3 — Compare Codex, Claude Code and Antigravity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Run the same bounded repository-analysis task in available tools and compare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docs/tool-comparison.md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Compare plan quality, file awareness, tool use, diff clarity and verification discipline.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 the same bounded repository-analysis task in available tools and compare evidence.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Compare plan quality, file awareness, tool use, diff clarity and verification discipline.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“Run the same bounded repository-analysis task in available tools and compare evidence.” Identify the learner-visible success condition and write it under Goal in `prompts/lab-1.3.md`.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`docs/tool-comparison.md`.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Compare plan quality, file awareness, tool use, diff clarity and verification discipline. Add explicit non-goals so the agent cannot silently expand scope.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`docs/tool-comparison.md`.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docs/tool-comparison.md`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`feat(lab-1.3): compare-codex-claude-code-and-antigravity`. Record one assumption corrected during the lab.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Compare plan quality, file awareness, tool use, diff clarity and verification discipline.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01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1.4 — Turn a Business Need into a Product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Convert a TaskFlow scenario into users, jobs, scope, non-goals and acceptance criteria.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PROJECT.md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Create a decision-ready brief that a fresh agent can interpret without chat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Convert a TaskFlow scenario into users, jobs, scope, non-goals and acceptance criteria.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 a decision-ready brief that a fresh agent can interpret without chat history.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“Convert a TaskFlow scenario into users, jobs, scope, non-goals and acceptance criteria.” Identify the learner-visible success condition and write it under Goal in `prompts/lab-1.4.md`.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`PROJECT.md`.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Create a decision-ready brief that a fresh agent can interpret without chat history. Add explicit non-goals so the agent cannot silently expand scope.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`PROJECT.md`.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PROJECT.md`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`feat(lab-1.4): turn-a-business-need-into-a-product-brief`. Record one assumption corrected during the lab.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Create a decision-ready brief that a fresh agent can interpret without chat history.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01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1.5 — Create Durable Repository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Write AGENTS.md and project rules that guide agents without over-constraining implementation.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AGENTS.md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Specify commands, architecture, conventions, safety rules and definition of done.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Write AGENTS.md and project rules that guide agents without over-constraining implementation.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Specify commands, architecture, conventions, safety rules and definition of done.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“Write AGENTS.md and project rules that guide agents without over-constraining implementation.” Identify the learner-visible success condition and write it under Goal in `prompts/lab-1.5.md`.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`AGENTS.md`.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Specify commands, architecture, conventions, safety rules and definition of done. Add explicit non-goals so the agent cannot silently expand scope.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`AGENTS.md`.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AGENTS.md`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`feat(lab-1.5): create-durable-repository-instructions`. Record one assumption corrected during the lab.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Specify commands, architecture, conventions, safety rules and definition of done.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01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1.6 — Architect and Scaffold a Full-Stack Vertical Slice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Plan React, Express, SQLite and shared contracts; scaffold only after reviewing the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apps/web + apps/api + packages/shared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Create a runnable monorepo skeleton and a health-check slice with no hidden manual fixes.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Plan React, Express, SQLite and shared contracts; scaffold only after reviewing the plan.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 a runnable monorepo skeleton and a health-check slice with no hidden manual fixes.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“Plan React, Express, SQLite and shared contracts; scaffold only after reviewing the plan.” Identify the learner-visible success condition and write it under Goal in `prompts/lab-1.6.md`.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`apps/web + apps/api + packages/shared`.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Create a runnable monorepo skeleton and a health-check slice with no hidden manual fixes. Add explicit non-goals so the agent cannot silently expand scope.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`apps/web + apps/api + packages/shared`.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apps/web`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`feat(lab-1.6): architect-and-scaffold-a-full-stack-vertical-slice`. Record one assumption corrected during the lab.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Create a runnable monorepo skeleton and a health-check slice with no hidden manual fixes.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1.6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FRONTEND &amp; BACKEND IMPLEMENTATION WITH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Topic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>
                <a:solidFill>
                  <a:srgbClr val="DCE9F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874519"/>
            <a:ext cx="8869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Frontend &amp; Backend Implementation with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7490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11 connected labs · concept → demonstration → practice → transfer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Why this topic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3401568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Component and API boundaries: connect knowledge to an engineering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64208"/>
            <a:ext cx="3401568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Accessible responsive UI: connect knowledge to an engineering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664208"/>
            <a:ext cx="3401568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02752" y="1920240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Typed contracts and validation: connect knowledge to an engineering decision.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3744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23744" y="3822191"/>
            <a:ext cx="3401568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06624" y="4078224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06624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1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Persistence and migrations: connect knowledge to an engineering decision.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3822191"/>
            <a:ext cx="3401568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37376" y="4078224"/>
            <a:ext cx="420624" cy="42062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Testing as executable context: connect knowledge to an engineering decision.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Concept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1901952" cy="242316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Component and API boundaries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2569464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2072" y="2057400"/>
            <a:ext cx="1901952" cy="242316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Accessible responsive UI</a:t>
            </a:r>
          </a:p>
        </p:txBody>
      </p:sp>
      <p:sp>
        <p:nvSpPr>
          <p:cNvPr id="16" name="Chevron 15"/>
          <p:cNvSpPr/>
          <p:nvPr/>
        </p:nvSpPr>
        <p:spPr>
          <a:xfrm>
            <a:off x="4837176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9784" y="2057400"/>
            <a:ext cx="1901952" cy="242316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Typed contracts and validation</a:t>
            </a:r>
          </a:p>
        </p:txBody>
      </p:sp>
      <p:sp>
        <p:nvSpPr>
          <p:cNvPr id="20" name="Chevron 19"/>
          <p:cNvSpPr/>
          <p:nvPr/>
        </p:nvSpPr>
        <p:spPr>
          <a:xfrm>
            <a:off x="7104888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7496" y="2057400"/>
            <a:ext cx="1901952" cy="242316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Persistence and migrations</a:t>
            </a:r>
          </a:p>
        </p:txBody>
      </p:sp>
      <p:sp>
        <p:nvSpPr>
          <p:cNvPr id="24" name="Chevron 23"/>
          <p:cNvSpPr/>
          <p:nvPr/>
        </p:nvSpPr>
        <p:spPr>
          <a:xfrm>
            <a:off x="9372600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65208" y="2057400"/>
            <a:ext cx="1901952" cy="242316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Testing as executable context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Common failure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A polished solution to the wrong problem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Chat-only context that disappears next session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Broad generated diffs that cannot be reviewed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Happy-path tests that miss real boundaries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Automation without ownership or rollback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2.1 — Design the TaskFlow UI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Translate the product brief into tokens, components, states and responsive wireframes.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apps/web/src/styles + docs/ui-system.md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Define accessible colour, spacing, typography and interaction states before component generation.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Translate the product brief into tokens, components, states and responsive wireframes.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Define accessible colour, spacing, typography and interaction states before component generation.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“Translate the product brief into tokens, components, states and responsive wireframes.” Identify the learner-visible success condition and write it under Goal in `prompts/lab-2.1.md`.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`apps/web/src/styles + docs/ui-system.md`.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Define accessible colour, spacing, typography and interaction states before component generation. Add explicit non-goals so the agent cannot silently expand scope.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`apps/web/src/styles + docs/ui-system.md`.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apps/web/src/styles`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`feat(lab-2.1): design-the-taskflow-ui-system`. Record one assumption corrected during the lab.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Define accessible colour, spacing, typography and interaction states before component generation.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2.2 — Generate the Application Shell and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Build a semantic responsive shell with skip link, header, navigation and main region.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apps/web/src/components/AppShell.tsx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Inspect landmarks, tab order, focus styles and mobile layout.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Build a semantic responsive shell with skip link, header, navigation and main region.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Inspect landmarks, tab order, focus styles and mobile layout.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“Build a semantic responsive shell with skip link, header, navigation and main region.” Identify the learner-visible success condition and write it under Goal in `prompts/lab-2.2.md`.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`apps/web/src/components/AppShell.tsx`.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Inspect landmarks, tab order, focus styles and mobile layout. Add explicit non-goals so the agent cannot silently expand scope.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`apps/web/src/components/AppShell.tsx`.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apps/web/src/components/AppShell.tsx`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`feat(lab-2.2): generate-the-application-shell-and-navigation`. Record one assumption corrected during the lab.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Inspect landmarks, tab order, focus styles and mobile layout.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2.3 — Build Task Cards, Lists and Empty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Create typed presentational components for loading, empty, populated and error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apps/web/src/components/tasks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Use stable keys, clear status semantics and component-level examples.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 typed presentational components for loading, empty, populated and error states.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Use stable keys, clear status semantics and component-level examples.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“Create typed presentational components for loading, empty, populated and error states.” Identify the learner-visible success condition and write it under Goal in `prompts/lab-2.3.md`.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`apps/web/src/components/tasks`.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Use stable keys, clear status semantics and component-level examples. Add explicit non-goals so the agent cannot silently expand scope.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`apps/web/src/components/tasks`.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apps/web/src/components/tasks`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`feat(lab-2.3): build-task-cards-lists-and-empty-states`. Record one assumption corrected during the lab.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Use stable keys, clear status semantics and component-level examples.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2.4 — Build a Controlled Task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Implement accessible controlled inputs, client validation and submission feedback.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apps/web/src/components/TaskForm.tsx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Handle labels, errors, disabled state, focus recovery and double-submit prevention.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Implement accessible controlled inputs, client validation and submission feedback.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Handle labels, errors, disabled state, focus recovery and double-submit prevention.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“Implement accessible controlled inputs, client validation and submission feedback.” Identify the learner-visible success condition and write it under Goal in `prompts/lab-2.4.md`.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`apps/web/src/components/TaskForm.tsx`.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Handle labels, errors, disabled state, focus recovery and double-submit prevention. Add explicit non-goals so the agent cannot silently expand scope.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`apps/web/src/components/TaskForm.tsx`.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apps/web/src/components/TaskForm.tsx`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`feat(lab-2.4): build-a-controlled-task-form`. Record one assumption corrected during the lab.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Handle labels, errors, disabled state, focus recovery and double-submit prevention.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2.5 — Model Shared TypeScript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Define Task, CreateTaskInput, TaskStatus and API result types once for both layers.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packages/shared/src/task.ts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Remove duplicated shapes and verify client/server compilation against shared contracts.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Define Task, CreateTaskInput, TaskStatus and API result types once for both layers.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Remove duplicated shapes and verify client/server compilation against shared contracts.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“Define Task, CreateTaskInput, TaskStatus and API result types once for both layers.” Identify the learner-visible success condition and write it under Goal in `prompts/lab-2.5.md`.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`packages/shared/src/task.ts`.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Remove duplicated shapes and verify client/server compilation against shared contracts. Add explicit non-goals so the agent cannot silently expand scope.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`packages/shared/src/task.ts`.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packages/shared/src/task.ts`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`feat(lab-2.5): model-shared-typescript-contracts`. Record one assumption corrected during the lab.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Remove duplicated shapes and verify client/server compilation against shared contracts.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2.6 — Create the Express API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Generate app, routes, controllers, services and middleware with explicit boundaries.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apps/api/src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Implement health and task routes without placing business logic in route handlers.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Generate app, routes, controllers, services and middleware with explicit boundaries.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Implement health and task routes without placing business logic in route handlers.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“Generate app, routes, controllers, services and middleware with explicit boundaries.” Identify the learner-visible success condition and write it under Goal in `prompts/lab-2.6.md`.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`apps/api/src`.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Implement health and task routes without placing business logic in route handlers. Add explicit non-goals so the agent cannot silently expand scope.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`apps/api/src`.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apps/api/src`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`feat(lab-2.6): create-the-express-api-structure`. Record one assumption corrected during the lab.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Implement health and task routes without placing business logic in route handlers.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2.7 — Add Runtime Validation and Safe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Validate untrusted requests and return consistent errors without leaking internals.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apps/api/src/middleware + schemas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Test malformed JSON, blank titles, invalid status and unknown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Validate untrusted requests and return consistent errors without leaking internals.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Test malformed JSON, blank titles, invalid status and unknown records.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“Validate untrusted requests and return consistent errors without leaking internals.” Identify the learner-visible success condition and write it under Goal in `prompts/lab-2.7.md`.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`apps/api/src/middleware + schemas`.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Test malformed JSON, blank titles, invalid status and unknown records. Add explicit non-goals so the agent cannot silently expand scope.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`apps/api/src/middleware + schemas`.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apps/api/src/middleware`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`feat(lab-2.7): add-runtime-validation-and-safe-errors`. Record one assumption corrected during the lab.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Test malformed JSON, blank titles, invalid status and unknown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2.8 — Add SQLite Migrations and Repository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Create schema, migration, seed and repository functions with parameterised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apps/api/src/db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Prove clean migration, deterministic seed, CRUD persistence and SQL-injection resistance.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 schema, migration, seed and repository functions with parameterised queries.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Prove clean migration, deterministic seed, CRUD persistence and SQL-injection resistance.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“Create schema, migration, seed and repository functions with parameterised queries.” Identify the learner-visible success condition and write it under Goal in `prompts/lab-2.8.md`.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`apps/api/src/db`.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Prove clean migration, deterministic seed, CRUD persistence and SQL-injection resistance. Add explicit non-goals so the agent cannot silently expand scope.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`apps/api/src/db`.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apps/api/src/db`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`feat(lab-2.8): add-sqlite-migrations-and-repository-logic`. Record one assumption corrected during the lab.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Prove clean migration, deterministic seed, CRUD persistence and SQL-injection resistance.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2.9 — Connect the React Client to the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Replace fixtures with a typed API client and resilient loading/error behaviour.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apps/web/src/lib/apiClient.ts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Exercise create, read and update across the browser, API and database.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Replace fixtures with a typed API client and resilient loading/error behaviour.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Exercise create, read and update across the browser, API and database.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“Replace fixtures with a typed API client and resilient loading/error behaviour.” Identify the learner-visible success condition and write it under Goal in `prompts/lab-2.9.md`.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`apps/web/src/lib/apiClient.ts`.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Exercise create, read and update across the browser, API and database. Add explicit non-goals so the agent cannot silently expand scope.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`apps/web/src/lib/apiClient.ts`.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apps/web/src/lib/apiClient.ts`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`feat(lab-2.9): connect-the-react-client-to-the-api`. Record one assumption corrected during the lab.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Exercise create, read and update across the browser, API and database.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2.10 — Generate Unit and Integration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Use tests as executable context for components, services and HTTP endpoints.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apps/web/src/**/*.test.tsx + apps/api/test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Cover happy paths, boundaries and failures; ensure tests are isolated and deterministic.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Use tests as executable context for components, services and HTTP endpoints.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Cover happy paths, boundaries and failures; ensure tests are isolated and deterministic.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“Use tests as executable context for components, services and HTTP endpoints.” Identify the learner-visible success condition and write it under Goal in `prompts/lab-2.10.md`.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`apps/web/src/**/*.test.tsx + apps/api/test`.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Cover happy paths, boundaries and failures; ensure tests are isolated and deterministic. Add explicit non-goals so the agent cannot silently expand scope.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`apps/web/src/**/*.test.tsx + apps/api/test`.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apps/web/src/**/*.test.tsx`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`feat(lab-2.10): generate-unit-and-integration-tests`. Record one assumption corrected during the lab.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Cover happy paths, boundaries and failures; ensure tests are isolated and deterministic.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02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2.11 — Debug an Agent-Generated Cross-Layer Defect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Trace a status mismatch from UI symptom through network, validation and persistence.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docs/debug-report.md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Form hypotheses, collect evidence, make the smallest fix and add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Trace a status mismatch from UI symptom through network, validation and persistence.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Form hypotheses, collect evidence, make the smallest fix and add a regression test.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“Trace a status mismatch from UI symptom through network, validation and persistence.” Identify the learner-visible success condition and write it under Goal in `prompts/lab-2.11.md`.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`docs/debug-report.md`.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Form hypotheses, collect evidence, make the smallest fix and add a regression test. Add explicit non-goals so the agent cannot silently expand scope.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`docs/debug-report.md`.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docs/debug-report.md`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`feat(lab-2.11): debug-an-agent-generated-cross-layer-defect`. Record one assumption corrected during the lab.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Form hypotheses, collect evidence, make the smallest fix and add a regression 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2.11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DEPLOYMENT TO THE CLOUD &amp; CI/CD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Topic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>
                <a:solidFill>
                  <a:srgbClr val="DCE9F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874519"/>
            <a:ext cx="8869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Deployment to the Cloud &amp; CI/CD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7490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7 connected labs · concept → demonstration → practice → transfer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Why this topic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3401568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Production configuration: connect knowledge to an engineering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64208"/>
            <a:ext cx="3401568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Repeatable builds: connect knowledge to an engineering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664208"/>
            <a:ext cx="3401568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02752" y="1920240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Containers and health checks: connect knowledge to an engineering decision.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3744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23744" y="3822191"/>
            <a:ext cx="3401568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06624" y="4078224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06624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1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CI quality gates: connect knowledge to an engineering decision.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3822191"/>
            <a:ext cx="3401568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37376" y="4078224"/>
            <a:ext cx="420624" cy="42062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Preview and production deployment: connect knowledge to an engineering decision.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Concept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1901952" cy="242316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Production configuration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2569464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2072" y="2057400"/>
            <a:ext cx="1901952" cy="242316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Repeatable builds</a:t>
            </a:r>
          </a:p>
        </p:txBody>
      </p:sp>
      <p:sp>
        <p:nvSpPr>
          <p:cNvPr id="16" name="Chevron 15"/>
          <p:cNvSpPr/>
          <p:nvPr/>
        </p:nvSpPr>
        <p:spPr>
          <a:xfrm>
            <a:off x="4837176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9784" y="2057400"/>
            <a:ext cx="1901952" cy="242316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Containers and health checks</a:t>
            </a:r>
          </a:p>
        </p:txBody>
      </p:sp>
      <p:sp>
        <p:nvSpPr>
          <p:cNvPr id="20" name="Chevron 19"/>
          <p:cNvSpPr/>
          <p:nvPr/>
        </p:nvSpPr>
        <p:spPr>
          <a:xfrm>
            <a:off x="7104888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7496" y="2057400"/>
            <a:ext cx="1901952" cy="242316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CI quality gates</a:t>
            </a:r>
          </a:p>
        </p:txBody>
      </p:sp>
      <p:sp>
        <p:nvSpPr>
          <p:cNvPr id="24" name="Chevron 23"/>
          <p:cNvSpPr/>
          <p:nvPr/>
        </p:nvSpPr>
        <p:spPr>
          <a:xfrm>
            <a:off x="9372600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65208" y="2057400"/>
            <a:ext cx="1901952" cy="242316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Preview and production deployment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Common failure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A polished solution to the wrong problem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Chat-only context that disappears next session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Broad generated diffs that cannot be reviewed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Happy-path tests that miss real boundaries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Automation without ownership or rollback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03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3.1 — Harden Configuration and Secret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Validate environment variables, create safe examples and prevent secret exposure.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.env.example + apps/api/src/config.ts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Fail fast with helpful messages while keeping credentials out of prompts, logs and Git.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Validate environment variables, create safe examples and prevent secret exposure.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Fail fast with helpful messages while keeping credentials out of prompts, logs and Git.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“Validate environment variables, create safe examples and prevent secret exposure.” Identify the learner-visible success condition and write it under Goal in `prompts/lab-3.1.md`.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`.env.example + apps/api/src/config.ts`.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Fail fast with helpful messages while keeping credentials out of prompts, logs and Git. Add explicit non-goals so the agent cannot silently expand scope.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`.env.example + apps/api/src/config.ts`.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.env.example`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`feat(lab-3.1): harden-configuration-and-secret-handling`. Record one assumption corrected during the lab.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Fail fast with helpful messages while keeping credentials out of prompts, logs and Git.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03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3.2 — Create and Test Production Builds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Build client and server from a clean checkout and run a production smoke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dist outputs + docs/production-runbook.md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Document exact commands, artifacts, runtime assumptions and recovery steps.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Build client and server from a clean checkout and run a production smoke test.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Document exact commands, artifacts, runtime assumptions and recovery steps.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“Build client and server from a clean checkout and run a production smoke test.” Identify the learner-visible success condition and write it under Goal in `prompts/lab-3.2.md`.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`dist outputs + docs/production-runbook.md`.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Document exact commands, artifacts, runtime assumptions and recovery steps. Add explicit non-goals so the agent cannot silently expand scope.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`dist outputs + docs/production-runbook.md`.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dist outputs`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`feat(lab-3.2): create-and-test-production-builds`. Record one assumption corrected during the lab.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Document exact commands, artifacts, runtime assumptions and recovery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03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3.3 — Containerise the Full-Stack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Generate a multi-stage Dockerfile, health check and minimal runtime image.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Dockerfile + .dockerignore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Build, run, inspect, stop and rebuild without copying secrets or development clutter.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Generate a multi-stage Dockerfile, health check and minimal runtime image.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Build, run, inspect, stop and rebuild without copying secrets or development clutter.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“Generate a multi-stage Dockerfile, health check and minimal runtime image.” Identify the learner-visible success condition and write it under Goal in `prompts/lab-3.3.md`.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`Dockerfile + .dockerignore`.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Build, run, inspect, stop and rebuild without copying secrets or development clutter. Add explicit non-goals so the agent cannot silently expand scope.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`Dockerfile + .dockerignore`.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Dockerfile`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`feat(lab-3.3): containerise-the-full-stack-application`. Record one assumption corrected during the lab.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Build, run, inspect, stop and rebuild without copying secrets or development clutter.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03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3.4 — Build a GitHub Actions CI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Create least-privilege lint, typecheck, test and build gates with caching.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.github/workflows/ci.yml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Validate YAML, observe a passing run and preserve readable failure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 least-privilege lint, typecheck, test and build gates with caching.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Validate YAML, observe a passing run and preserve readable failure evidence.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“Create least-privilege lint, typecheck, test and build gates with caching.” Identify the learner-visible success condition and write it under Goal in `prompts/lab-3.4.md`.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`.github/workflows/ci.yml`.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Validate YAML, observe a passing run and preserve readable failure evidence. Add explicit non-goals so the agent cannot silently expand scope.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`.github/workflows/ci.yml`.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.github/workflows/ci.yml`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`feat(lab-3.4): build-a-github-actions-ci-pipeline`. Record one assumption corrected during the lab.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Validate YAML, observe a passing run and preserve readable failure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03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3.5 — Prove the Release Gate with Failure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Introduce controlled lint, type and test failures and confirm CI blocks each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docs/ci-failure-lab.md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Distinguish product defects from pipeline defects and revert cleanly after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Introduce controlled lint, type and test failures and confirm CI blocks each one.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Distinguish product defects from pipeline defects and revert cleanly after evidence.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“Introduce controlled lint, type and test failures and confirm CI blocks each one.” Identify the learner-visible success condition and write it under Goal in `prompts/lab-3.5.md`.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`docs/ci-failure-lab.md`.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Distinguish product defects from pipeline defects and revert cleanly after evidence. Add explicit non-goals so the agent cannot silently expand scope.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`docs/ci-failure-lab.md`.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docs/ci-failure-lab.md`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`feat(lab-3.5): prove-the-release-gate-with-failure-injection`. Record one assumption corrected during the lab.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Distinguish product defects from pipeline defects and revert cleanly after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03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3.6 — Deploy a Preview and Production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Configure a cloud target, environment variables, migrations and gated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deployment config + release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Verify health, UI/API connectivity, persistence and environment isolation.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Configure a cloud target, environment variables, migrations and gated deployment.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Verify health, UI/API connectivity, persistence and environment isolation.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“Configure a cloud target, environment variables, migrations and gated deployment.” Identify the learner-visible success condition and write it under Goal in `prompts/lab-3.6.md`.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`deployment config + release URL`.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Verify health, UI/API connectivity, persistence and environment isolation. Add explicit non-goals so the agent cannot silently expand scope.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`deployment config + release URL`.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deployment config`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`feat(lab-3.6): deploy-a-preview-and-production-release`. Record one assumption corrected during the lab.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Verify health, UI/API connectivity, persistence and environment isolation.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03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3.7 — Add Observability, Release Notes and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Add structured logs, correlation IDs, health endpoints and a rollback runbook.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docs/releases + docs/rollback.md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Detect a simulated failure, identify the release, and execute a reversible rollback decision.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structured logs, correlation IDs, health endpoints and a rollback runbook.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Detect a simulated failure, identify the release, and execute a reversible rollback decision.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“Add structured logs, correlation IDs, health endpoints and a rollback runbook.” Identify the learner-visible success condition and write it under Goal in `prompts/lab-3.7.md`.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`docs/releases + docs/rollback.md`.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Detect a simulated failure, identify the release, and execute a reversible rollback decision. Add explicit non-goals so the agent cannot silently expand scope.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`docs/releases + docs/rollback.md`.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docs/releases`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`feat(lab-3.7): add-observability-release-notes-and-rollback`. Record one assumption corrected during the lab.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Detect a simulated failure, identify the release, and execute a reversible rollback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3.7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AGENT SKILLS, SUBAGENTS &amp; MCP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Topic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>
                <a:solidFill>
                  <a:srgbClr val="DCE9FF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874519"/>
            <a:ext cx="8869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 Skills, Subagents &amp; MCP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7490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6 connected labs · concept → demonstration → practice → transfer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Why this topic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3401568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Reusable skills and trigger design: connect knowledge to an engineering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64208"/>
            <a:ext cx="3401568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Commands and lifecycle hooks: connect knowledge to an engineering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664208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664208"/>
            <a:ext cx="3401568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02752" y="1920240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020824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911095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Bounded subagent delegation: connect knowledge to an engineering decision.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3744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23744" y="3822191"/>
            <a:ext cx="3401568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06624" y="4078224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06624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1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Model Context Protocol tools: connect knowledge to an engineering decision.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3822191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3822191"/>
            <a:ext cx="3401568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37376" y="4078224"/>
            <a:ext cx="420624" cy="42062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178807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069079"/>
            <a:ext cx="244144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Security boundaries: connect knowledge to an engineering decision.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Concept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1901952" cy="242316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Reusable skills and trigger design</a:t>
            </a:r>
          </a:p>
        </p:txBody>
      </p:sp>
      <p:sp>
        <p:nvSpPr>
          <p:cNvPr id="12" name="Chevron 11"/>
          <p:cNvSpPr/>
          <p:nvPr/>
        </p:nvSpPr>
        <p:spPr>
          <a:xfrm>
            <a:off x="2569464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2072" y="2057400"/>
            <a:ext cx="1901952" cy="242316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Commands and lifecycle hooks</a:t>
            </a:r>
          </a:p>
        </p:txBody>
      </p:sp>
      <p:sp>
        <p:nvSpPr>
          <p:cNvPr id="16" name="Chevron 15"/>
          <p:cNvSpPr/>
          <p:nvPr/>
        </p:nvSpPr>
        <p:spPr>
          <a:xfrm>
            <a:off x="4837176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9784" y="2057400"/>
            <a:ext cx="1901952" cy="242316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Bounded subagent delegation</a:t>
            </a:r>
          </a:p>
        </p:txBody>
      </p:sp>
      <p:sp>
        <p:nvSpPr>
          <p:cNvPr id="20" name="Chevron 19"/>
          <p:cNvSpPr/>
          <p:nvPr/>
        </p:nvSpPr>
        <p:spPr>
          <a:xfrm>
            <a:off x="7104888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7496" y="2057400"/>
            <a:ext cx="1901952" cy="242316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Model Context Protocol tools</a:t>
            </a:r>
          </a:p>
        </p:txBody>
      </p:sp>
      <p:sp>
        <p:nvSpPr>
          <p:cNvPr id="24" name="Chevron 23"/>
          <p:cNvSpPr/>
          <p:nvPr/>
        </p:nvSpPr>
        <p:spPr>
          <a:xfrm>
            <a:off x="9372600" y="2953512"/>
            <a:ext cx="274320" cy="502920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65208" y="2057400"/>
            <a:ext cx="1901952" cy="242316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3500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871216"/>
            <a:ext cx="1572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Security boundaries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Common failure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A polished solution to the wrong problem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Chat-only context that disappears next session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Broad generated diffs that cannot be reviewed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Happy-path tests that miss real boundaries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Automation without ownership or rollback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04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4.1 — Create a Non-WSQ Route-Generator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Package a repeatable typed-route workflow with concise triggers and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.codex/skills/non-wsq-route-generator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Create, validate and invoke the skill on one new endpoint.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Package a repeatable typed-route workflow with concise triggers and validation.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Create, validate and invoke the skill on one new endpoint.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“Package a repeatable typed-route workflow with concise triggers and validation.” Identify the learner-visible success condition and write it under Goal in `prompts/lab-4.1.md`.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`.codex/skills/non-wsq-route-generator`.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Create, validate and invoke the skill on one new endpoint. Add explicit non-goals so the agent cannot silently expand scope.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`.codex/skills/non-wsq-route-generator`.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.codex/skills/non-wsq-route-generator`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`feat(lab-4.1): create-a-non-wsq-route-generator-skill`. Record one assumption corrected during the lab.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Create, validate and invoke the skill on one new endpoint.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04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4.2 — Create Commands and Quality 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Add project commands plus pre/post hooks that enforce scope and verification.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.claude/commands + .claude/hooks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Reject prohibited programme content and incomplete lab artifacts without touching WSQ tooling.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project commands plus pre/post hooks that enforce scope and verification.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Reject prohibited programme content and incomplete lab artifacts without touching WSQ tooling.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“Add project commands plus pre/post hooks that enforce scope and verification.” Identify the learner-visible success condition and write it under Goal in `prompts/lab-4.2.md`.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`.claude/commands + .claude/hooks`.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Reject prohibited programme content and incomplete lab artifacts without touching WSQ tooling. Add explicit non-goals so the agent cannot silently expand scope.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`.claude/commands + .claude/hooks`.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.claude/commands`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`feat(lab-4.2): create-commands-and-quality-hooks`. Record one assumption corrected during the lab.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Reject prohibited programme content and incomplete lab artifacts without touching WSQ tooling.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04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4.3 — Design Bounded Review and Test Subagents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Define frontend-review, API-test and security-review roles with explicit outputs.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.claude/agents/non-wsq-*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Delegate independent tasks, compare findings and keep integration decisions central.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Define frontend-review, API-test and security-review roles with explicit outputs.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Delegate independent tasks, compare findings and keep integration decisions central.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“Define frontend-review, API-test and security-review roles with explicit outputs.” Identify the learner-visible success condition and write it under Goal in `prompts/lab-4.3.md`.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`.claude/agents/non-wsq-*`.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Delegate independent tasks, compare findings and keep integration decisions central. Add explicit non-goals so the agent cannot silently expand scope.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`.claude/agents/non-wsq-*`.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.claude/agents/non-wsq-*`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`feat(lab-4.3): design-bounded-review-and-test-subagents`. Record one assumption corrected during the lab.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Delegate independent tasks, compare findings and keep integration decisions central.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04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4.4 — Build a Local MCP Project-Status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Expose typed read-only tools for Git status, test summaries and release readiness.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tools/project-status-mcp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Implement stdio transport, schemas, structured errors and path containment.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Expose typed read-only tools for Git status, test summaries and release readiness.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Implement stdio transport, schemas, structured errors and path containment.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“Expose typed read-only tools for Git status, test summaries and release readiness.” Identify the learner-visible success condition and write it under Goal in `prompts/lab-4.4.md`.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`tools/project-status-mcp`.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Implement stdio transport, schemas, structured errors and path containment. Add explicit non-goals so the agent cannot silently expand scope.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`tools/project-status-mcp`.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tools/project-status-mcp`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`feat(lab-4.4): build-a-local-mcp-project-status-server`. Record one assumption corrected during the lab.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Implement stdio transport, schemas, structured errors and path containment.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04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4.5 — Test MCP Tools and Security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Exercise valid, invalid and adversarial inputs without allowing arbitrary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tools/project-status-mcp/test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Prove schema validation, project-root containment, output limits and safe error messages.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Exercise valid, invalid and adversarial inputs without allowing arbitrary execution.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Prove schema validation, project-root containment, output limits and safe error messages.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“Exercise valid, invalid and adversarial inputs without allowing arbitrary execution.” Identify the learner-visible success condition and write it under Goal in `prompts/lab-4.5.md`.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`tools/project-status-mcp/test`.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Prove schema validation, project-root containment, output limits and safe error messages. Add explicit non-goals so the agent cannot silently expand scope.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`tools/project-status-mcp/test`.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tools/project-status-mcp/test`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`feat(lab-4.5): test-mcp-tools-and-security-boundaries`. Record one assumption corrected during the lab.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Prove schema validation, project-root containment, output limits and safe error messages.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TOPIC 04 · LAB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4.6 — Orchestrate the TaskFlow Capstone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4709160" cy="4315968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160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Coordinate specialised reviews through the agentic loop and ship a verified release.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BUILD A VERIFIED INCREMENT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27632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627632"/>
            <a:ext cx="100584" cy="877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37360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Primary target: docs/capstone-release.md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670048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670048"/>
            <a:ext cx="100584" cy="877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8072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79776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Reconcile findings, run all gates, demonstrate TaskFlow and publish evidence-backed release notes.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712463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712463"/>
            <a:ext cx="100584" cy="877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8496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Evidence: prompt + reviewed diff + command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754880"/>
            <a:ext cx="58064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4754880"/>
            <a:ext cx="100584" cy="877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864608"/>
            <a:ext cx="4297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Independent challenge: change one boundary condition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prompt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Coordinate specialised reviews through the agentic loop and ship a verified release.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060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relevant files and last verified checkpoint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scope, types, accessibility, security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262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Reconcile findings, run all gates, demonstrate TaskFlow and publish evidence-backed release notes.</a:t>
            </a:r>
          </a:p>
        </p:txBody>
      </p:sp>
      <p:sp>
        <p:nvSpPr>
          <p:cNvPr id="32" name="Chevron 31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5363" y="3218688"/>
            <a:ext cx="17026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exact commands and expected behaviour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Read the scenario and restate the outcome in one sentence: “Coordinate specialised reviews through the agentic loop and ship a verified release.” Identify the learner-visible success condition and write it under Goal in `prompts/lab-4.6.md`.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starting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status --short`, inventory the relevant files, and open the current checkpoint. Confirm that the intended change is limited to `docs/capstone-release.md`. If unrelated changes exist, record them and do not overwrite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Ask the coding agent for a numbered implementation plan. Require named files, data flow, risks, and verification commands. Do not permit edits yet. Compare the proposal with the architecture and remove unnecessary changes.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30752"/>
            <a:ext cx="10972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395020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Create the prompt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Write Goal, Context, Constraints, Deliverables and Verification sections. Include the requirement: Reconcile findings, run all gates, demonstrate TaskFlow and publish evidence-backed release notes. Add explicit non-goals so the agent cannot silently expand scope.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5–7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Generate a small 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Authorise only the first coherent change in `docs/capstone-release.md`. Ask the agent to explain each file before editing it. Keep the diff small enough to review in under five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 the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`git diff -- docs/capstone-release.md` where applicable. Check correctness, naming, accessibility/security, error handling, duplicated logic and unexpected dependencies. Reject code you cannot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Run the lab-specific command plus `npm run lint`, `npm run typecheck` and the narrowest relevant test. Capture the command, exit status and meaningful output in `docs/checkpoints.md`.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Procedure · Steps 8–10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1874519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11095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If verification fails, give the agent the exact error, observed behaviour and relevant file—not a guess. Ask for two hypotheses, choose one test, and apply the smallest evidence-backed correction.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109728" cy="187451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911095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928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51176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Change one boundary condition (empty input, network failure, unknown ID, narrow viewport or missing configuration). Predict the behaviour before running it, then add or update a regression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0752"/>
            <a:ext cx="10972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319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Commit the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90288"/>
            <a:ext cx="4745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Confirm `git diff --check` and a clean secret scan. Commit the verified increment with a precise message such as `feat(lab-4.6): orchestrate-the-taskflow-capstone-release`. Record one assumption corrected during the lab.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Expected result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Reconcile findings, run all gates, demonstrate TaskFlow and publish evidence-backed release notes.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Save the final prompt and reviewed diff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Capture verification command and exit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Record the boundary challenge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Write one corrected assumption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LAB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Troubleshoot, challenge and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64208"/>
            <a:ext cx="9921240" cy="621792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709928"/>
            <a:ext cx="530352" cy="53035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Reproduce and minimise before prompting again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13232" y="226771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487168"/>
            <a:ext cx="9921240" cy="621792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532888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609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0604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Name two hypotheses; run one discriminating test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13232" y="309067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310128"/>
            <a:ext cx="9921240" cy="621792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55848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Predict a changed boundary, then compare the result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3232" y="391363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133088"/>
            <a:ext cx="9921240" cy="621792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17880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Identify the highest-risk corrected assumption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13232" y="4736592"/>
            <a:ext cx="146304" cy="228600"/>
          </a:xfrm>
          <a:prstGeom prst="downArrow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21240" cy="621792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97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749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Commit only after the full verification gate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COURSE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Capstone release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2788920" cy="434340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9032" y="2148840"/>
            <a:ext cx="1280160" cy="12801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22191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rial"/>
              </a:rPr>
              <a:t>EVIDENCE
BEATS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6420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3632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7452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All 24 lab checkpoints are traceable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8716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6243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9748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Lint, typecheck, unit, integration and build gates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1012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13632" y="344728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52044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MCP tools remain typed, read-only and project-contained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13308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27024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43434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5196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No secrets or prohibited programme content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956048"/>
            <a:ext cx="770839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13632" y="509320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516636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Release note includes limitations and rollback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292608"/>
            <a:ext cx="1051560" cy="1051560"/>
          </a:xfrm>
          <a:prstGeom prst="ellipse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6848" y="164592"/>
            <a:ext cx="384048" cy="384048"/>
          </a:xfrm>
          <a:prstGeom prst="ellipse">
            <a:avLst/>
          </a:prstGeom>
          <a:solidFill>
            <a:srgbClr val="D9F7EA"/>
          </a:solidFill>
          <a:ln>
            <a:solidFill>
              <a:srgbClr val="D9F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COURSE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Your repeatable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AI Vibe Coding for Full Stack Web Development · C1800   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031796" cy="2697480"/>
          </a:xfrm>
          <a:prstGeom prst="roundRect">
            <a:avLst/>
          </a:prstGeom>
          <a:solidFill>
            <a:srgbClr val="EAF2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084831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Frame intent so success is observable</a:t>
            </a:r>
          </a:p>
        </p:txBody>
      </p:sp>
      <p:sp>
        <p:nvSpPr>
          <p:cNvPr id="13" name="Chevron 12"/>
          <p:cNvSpPr/>
          <p:nvPr/>
        </p:nvSpPr>
        <p:spPr>
          <a:xfrm>
            <a:off x="2671876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6468" y="1874519"/>
            <a:ext cx="2031796" cy="2697480"/>
          </a:xfrm>
          <a:prstGeom prst="roundRect">
            <a:avLst/>
          </a:prstGeom>
          <a:solidFill>
            <a:srgbClr val="E8F8F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73628" y="2084831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3628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1060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Arial"/>
              </a:rPr>
              <a:t>Plan before code and keep diffs reviewable</a:t>
            </a:r>
          </a:p>
        </p:txBody>
      </p:sp>
      <p:sp>
        <p:nvSpPr>
          <p:cNvPr id="18" name="Chevron 17"/>
          <p:cNvSpPr/>
          <p:nvPr/>
        </p:nvSpPr>
        <p:spPr>
          <a:xfrm>
            <a:off x="4849977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14569" y="1874519"/>
            <a:ext cx="2031796" cy="2697480"/>
          </a:xfrm>
          <a:prstGeom prst="roundRect">
            <a:avLst/>
          </a:prstGeom>
          <a:solidFill>
            <a:srgbClr val="F1EA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1729" y="2084831"/>
            <a:ext cx="475488" cy="47548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1729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9161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Inspect with human judgement</a:t>
            </a:r>
          </a:p>
        </p:txBody>
      </p:sp>
      <p:sp>
        <p:nvSpPr>
          <p:cNvPr id="23" name="Chevron 22"/>
          <p:cNvSpPr/>
          <p:nvPr/>
        </p:nvSpPr>
        <p:spPr>
          <a:xfrm>
            <a:off x="7028078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92670" y="1874519"/>
            <a:ext cx="2031796" cy="2697480"/>
          </a:xfrm>
          <a:prstGeom prst="roundRect">
            <a:avLst/>
          </a:prstGeom>
          <a:solidFill>
            <a:srgbClr val="FFF4C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29830" y="2084831"/>
            <a:ext cx="475488" cy="47548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29830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7262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Verify with independent evidence</a:t>
            </a:r>
          </a:p>
        </p:txBody>
      </p:sp>
      <p:sp>
        <p:nvSpPr>
          <p:cNvPr id="28" name="Chevron 27"/>
          <p:cNvSpPr/>
          <p:nvPr/>
        </p:nvSpPr>
        <p:spPr>
          <a:xfrm>
            <a:off x="9206179" y="2907792"/>
            <a:ext cx="256032" cy="438912"/>
          </a:xfrm>
          <a:prstGeom prst="chevron">
            <a:avLst/>
          </a:prstGeom>
          <a:solidFill>
            <a:srgbClr val="BFD4F7"/>
          </a:solidFill>
          <a:ln>
            <a:solidFill>
              <a:srgbClr val="BF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70771" y="1874519"/>
            <a:ext cx="2031796" cy="2697480"/>
          </a:xfrm>
          <a:prstGeom prst="roundRect">
            <a:avLst/>
          </a:prstGeom>
          <a:solidFill>
            <a:srgbClr val="FDECE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07931" y="2084831"/>
            <a:ext cx="475488" cy="4754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7931" y="219456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5363" y="2697480"/>
            <a:ext cx="17026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F4444"/>
                </a:solidFill>
                <a:latin typeface="Arial"/>
              </a:rPr>
              <a:t>Correct deliberately and commit reversibly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